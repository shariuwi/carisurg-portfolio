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B6CA8">
              <a:alpha val="28000"/>
            </a:srgbClr>
          </a:solidFill>
          <a:ln w="12700">
            <a:solidFill>
              <a:srgbClr val="1B6CA8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Pathway · Summer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Shari's Time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Plan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411480" y="3273552"/>
            <a:ext cx="1828800" cy="4572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4015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1–12 | Clinical ABCDE Triage · Pomodoro · Eisenhower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1605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Shari Oliver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47091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4709160"/>
            <a:ext cx="128016" cy="128016"/>
          </a:xfrm>
          <a:prstGeom prst="ellipse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" y="4709160"/>
            <a:ext cx="128016" cy="128016"/>
          </a:xfrm>
          <a:prstGeom prst="ellipse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9304" y="4709160"/>
            <a:ext cx="128016" cy="128016"/>
          </a:xfrm>
          <a:prstGeom prst="ellipse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This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560320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⏱Time Audit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Pre-summer snapshot of where hours went vs. summer targets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0972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97280"/>
            <a:ext cx="2560320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984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71907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Half-hour blocks: Carisurg, work, classes, breaks &amp; bedtime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10972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097280"/>
            <a:ext cx="2560320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2984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Justification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71907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ABCDE triage, Pomodoro &amp; Eisenhower applied to real life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288036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91640" y="2880360"/>
            <a:ext cx="2560320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0815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Eisenhower Matrix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28800" y="350215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commitment sorted into 4 priority quadrants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88036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2880360"/>
            <a:ext cx="2560320" cy="1097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0815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350215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Carisurg, lunch lock, class multitasking, spiritual grounding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Time Audit — Pre-Summer Snapshot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8686800" cy="393192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188720"/>
                <a:gridCol w="73152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Hrs/Day (Wk −2)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Hrs/Day (Wk −1)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(Summer)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Carisurg Internship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Work (9–5)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GEN2031 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COMP3220 Class + Tutorial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Medicine4Youth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Meals (incl. cooking)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Devotion / Church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Sleep / Wind-down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Study / Coursework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Admin / Chores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TV / Breaks / Social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Commute / Transition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24 hrs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 — Weeks 1–12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Half-hour time blocks across all 7 days | Clinical ABCDE + Eisenhower labels applied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228600" cy="1005840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Carisurg Internship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73936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AM daily (deep work) + light evening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298448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98448"/>
            <a:ext cx="228600" cy="1005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38988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9–5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773936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25+5 blocks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298448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98448"/>
            <a:ext cx="228600" cy="10058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38988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GEN2031 Class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1773936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&amp; Thu 6–9 PM (online)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459736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59736"/>
            <a:ext cx="228600" cy="1005840"/>
          </a:xfrm>
          <a:prstGeom prst="rect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51176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COMP3220 Class + Tutorial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2935224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9–11 AM + 12–1 PM (multitask)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2459736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459736"/>
            <a:ext cx="2286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551176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Medicine4Youth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2935224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3–4 PM · Sat 12–1 PM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459736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459736"/>
            <a:ext cx="228600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551176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Lunch Break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2935224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PM – 2 PM every day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621024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21024"/>
            <a:ext cx="228600" cy="1005840"/>
          </a:xfrm>
          <a:prstGeom prst="rect">
            <a:avLst/>
          </a:prstGeom>
          <a:solidFill>
            <a:srgbClr val="0E8074"/>
          </a:solidFill>
          <a:ln w="12700">
            <a:solidFill>
              <a:srgbClr val="0E80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71246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TV / Show Break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4096512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at 10:30 AM + 3:30 PM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3621024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621024"/>
            <a:ext cx="228600" cy="1005840"/>
          </a:xfrm>
          <a:prstGeom prst="rect">
            <a:avLst/>
          </a:prstGeom>
          <a:solidFill>
            <a:srgbClr val="8D4E19"/>
          </a:solidFill>
          <a:ln w="12700">
            <a:solidFill>
              <a:srgbClr val="8D4E1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371246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Cook &amp; Eat Dinner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66160" y="4096512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5–6:30 PM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3621024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3621024"/>
            <a:ext cx="228600" cy="100584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371246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Sleep / Wind-down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37960" y="4096512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out 11 PM–12 AM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 — Monday to Thursday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04672"/>
          <a:ext cx="8778240" cy="4279392"/>
        </p:xfrm>
        <a:graphic>
          <a:graphicData uri="http://schemas.openxmlformats.org/drawingml/2006/table">
            <a:tbl>
              <a:tblPr/>
              <a:tblGrid>
                <a:gridCol w="1188720"/>
                <a:gridCol w="1965960"/>
                <a:gridCol w="1965960"/>
                <a:gridCol w="1965960"/>
                <a:gridCol w="196596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5:30–6:00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6:00–7:00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Deep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Deep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Deep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Deep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7:00–8:30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Deep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Deep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Deep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Deep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8:30–9:00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9:00–11:00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COMP3220 + Work (multitask)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— Pomodoro 25+5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— Pomodoro 25+5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— Pomodoro 25+5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E8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20 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E8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20 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E8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20 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E8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20 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2E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11:00–12:00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12:00–1:00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COMP3220 Tutorial +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1:00–2:00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2:00–3:00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3:00–3:30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Medicine4Youth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E8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20 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E8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20 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E8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20 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E8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20 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2E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4:00–5:00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5:00–6:00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D4E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 + Cook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D4E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 + Cook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D4E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 + Cook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D4E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 + Cook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6:00–9:00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Review / Study [A]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7B2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GEN2031 Class [A]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Light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7B2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GEN2031 Class [A]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AE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9:00–11:00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/ Relax [D]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/ Relax [D]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/ Relax [D]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/ Relax [D]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 PM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 — Friday, Saturday &amp; Sunday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04672"/>
          <a:ext cx="8778240" cy="4279392"/>
        </p:xfrm>
        <a:graphic>
          <a:graphicData uri="http://schemas.openxmlformats.org/drawingml/2006/table">
            <a:tbl>
              <a:tblPr/>
              <a:tblGrid>
                <a:gridCol w="1188720"/>
                <a:gridCol w="2621280"/>
                <a:gridCol w="2621280"/>
                <a:gridCol w="26212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5:30–6:00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6:00–8:30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Deep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Deep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Deep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8:30–9:00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Chores / Workout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9:00–11:00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— Pomodoro 25+5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Workout &amp; Chores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Church / Social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E8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20 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11:00–12:00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Chores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Time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12:00–1:00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Medicine4Youth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/ Relax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1:00–2:00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2:00–5:00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/ Relax [D]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Light Work / Prep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E8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20 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5:00–6:30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D4E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 + Cook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D4E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 &amp; Eat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D4E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 &amp; Eat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6:00–8:00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Review / Study [A]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Carisurg Light Work [A]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85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Review &amp; Prep [B]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8:00–9:00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[C]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/ Socials [D]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/ Relax [D]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9:00–11:00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/ Relax [D]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/ Relax [D]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/ Relax [D]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 PM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ABCDE Triage — Applied to Your Week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914400"/>
            <a:ext cx="41696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914400"/>
            <a:ext cx="502920" cy="1874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5528" y="9692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— DO FIRST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12984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Immediate; fatal if missed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" y="1554480"/>
            <a:ext cx="349300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Carisurg Internship (deep work + light blocks)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COMP3220 Class &amp; Tutorial (Mon)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GEN2031 Class (Tue &amp; Thu PM)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Medicine4Youth Sessions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urgent programme deadlines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696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502920" cy="1874520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417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57800" y="9692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5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— PROTECT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12984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sustained function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57800" y="1554480"/>
            <a:ext cx="349300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(pays bills; Pomodoro keeps it sustainable)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Sleep — 7 hrs, lights out by midnight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Devotion + Church (spiritual grounding)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Study &amp; Programme coursework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‍ Workouts (weekend reset)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1168" y="2944368"/>
            <a:ext cx="41696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2944368"/>
            <a:ext cx="502920" cy="1874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4728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5528" y="2999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— COMPRESS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" y="332841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but batchable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" y="3584448"/>
            <a:ext cx="349300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Cooking &amp; meals — batch on Sundays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Admin / emails — 20 min max per day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Commute — transition time, not waste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Errands — weekend batching only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2944368"/>
            <a:ext cx="41696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44368"/>
            <a:ext cx="502920" cy="18745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44728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57800" y="2999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— LIMIT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332841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urgent; cap 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3584448"/>
            <a:ext cx="349300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TV / streaming — capped 1–2 hrs post-work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Mid-day breaks — 20 min × 2 (scheduled)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Social media — not default, earned only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Eisenhower Matrix — Weekly Activity Priority 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920240" y="78638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846320" y="78638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5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URGENT 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 rot="16200000">
            <a:off x="45720" y="1325880"/>
            <a:ext cx="8046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 rot="16200000">
            <a:off x="45720" y="2926080"/>
            <a:ext cx="8046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IMPORTANT 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0120" y="1078992"/>
            <a:ext cx="3657600" cy="1755648"/>
          </a:xfrm>
          <a:prstGeom prst="rect">
            <a:avLst/>
          </a:prstGeom>
          <a:solidFill>
            <a:srgbClr val="FADBD8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1078992"/>
            <a:ext cx="36576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1155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QUADRANT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FIRST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9848" y="1517904"/>
            <a:ext cx="34381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Carisurg Internship (deep + light)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COMP3220 Class &amp; Tutorial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GEN2031 Class (Tue &amp; Thu)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Medicine4Youth Sessions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Urgent programme deadlines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28032" y="1078992"/>
            <a:ext cx="3657600" cy="1755648"/>
          </a:xfrm>
          <a:prstGeom prst="rect">
            <a:avLst/>
          </a:prstGeom>
          <a:solidFill>
            <a:srgbClr val="D6EAF8"/>
          </a:solidFill>
          <a:ln w="19050">
            <a:solidFill>
              <a:srgbClr val="1659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28032" y="1078992"/>
            <a:ext cx="3657600" cy="384048"/>
          </a:xfrm>
          <a:prstGeom prst="rect">
            <a:avLst/>
          </a:prstGeom>
          <a:solidFill>
            <a:srgbClr val="1659A8"/>
          </a:solidFill>
          <a:ln w="12700">
            <a:solidFill>
              <a:srgbClr val="1659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1155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QUADRANT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517904"/>
            <a:ext cx="34381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(9–5 daily)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Sleep — 7 hrs nightly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Devotion &amp; Church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Study / Programme work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‍ Weekend workouts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60120" y="2944368"/>
            <a:ext cx="3657600" cy="1755648"/>
          </a:xfrm>
          <a:prstGeom prst="rect">
            <a:avLst/>
          </a:prstGeom>
          <a:solidFill>
            <a:srgbClr val="FDEBD0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2944368"/>
            <a:ext cx="36576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9809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QUADRANT 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69848" y="3383280"/>
            <a:ext cx="34381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Emails &amp; admin (batch 20 min)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Commute / logistics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Cooking (batch Sundays)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Errands (weekends only)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28032" y="2944368"/>
            <a:ext cx="3657600" cy="1755648"/>
          </a:xfrm>
          <a:prstGeom prst="rect">
            <a:avLst/>
          </a:prstGeom>
          <a:solidFill>
            <a:srgbClr val="D5F5E3"/>
          </a:solidFill>
          <a:ln w="1905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28032" y="2944368"/>
            <a:ext cx="36576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9809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QUADRANT 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383280"/>
            <a:ext cx="34381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TV / streaming — capped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Mid-day breaks — 20 min × 2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Social media scrolling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Passive entertainment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Method — Adapted to Clinical / Office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0704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Deep 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Carisurg 6–8:30 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82496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focused Pomodoro sessions: no interruptions, highest cognitive output. Deep programme work, writing, planning.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605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416052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0704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Blocks 9–5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0817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25-min sprint + 5-min reset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682496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Task-completion units: finish a patient note, complete one document, review one case — then a micro-reset.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605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416052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26664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Long Breaks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37413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AM + 3:30 PM (20 min each)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648456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scheduled 'long Pomodoro' resets: watch a short clip, stretch, decompress. Prevents fatigue accumulation.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605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416052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26664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Light Work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37413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Carisurg documentation 6–8 PM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648456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Pomodoro-style blocks for lighter tasks: feedback review, notebook updates, submission checks, file organisation.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 &amp; Justification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980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1051560"/>
            <a:ext cx="475488" cy="47548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6070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05156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Carisurg Split-Block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 6–8:30 AM (peak focus) + light evening work (documentation, reviews). Meets 3-hr daily requirement without burning out.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82112" y="914400"/>
            <a:ext cx="27980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51560"/>
            <a:ext cx="475488" cy="47548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6070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05156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Locked 1–2 PM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1572768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daily. Eating at the desk over 12 weeks is unsustainable — this is a B-quadrant recovery investment.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35624" y="914400"/>
            <a:ext cx="27980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5352" y="1051560"/>
            <a:ext cx="475488" cy="47548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06070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93992" y="105156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Class Multitasking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72784" y="1572768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COMP3220 + GEN2031 are online. Low-intensity work tasks run in parallel. High-stakes caregiving always takes priority.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27980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" y="3081528"/>
            <a:ext cx="475488" cy="47548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09067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6968" y="3081528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Devotion &amp; Church Protected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602736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prayer/devotion and weekend church included. Spiritual grounding is necessary for consistency, peace, and personal wellbeing across 12 weeks.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82112" y="2944368"/>
            <a:ext cx="27980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81528"/>
            <a:ext cx="475488" cy="47548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09067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3081528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by 11 PM–Midnight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9272" y="3602736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5:30 AM start, 7 hrs sleep means lights out by midnight. TV block ends by 10 PM; 30-min wind-down before sleep.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35624" y="2944368"/>
            <a:ext cx="27980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45352" y="3081528"/>
            <a:ext cx="475488" cy="47548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309067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93992" y="3081528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Weekly Review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72784" y="3602736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next week, reassign missed blocks, adjust Pomodoro targets. Prevents reactive firefighting every Monday morning.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Justification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2011680" cy="54864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schedule is designed to be realistic, sustainable, and aligned with the programme requirement of at least 3 hours of CariSurg work per day.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a clinical triage mindset — protecting the most important commitments first, then organising lower-priority tasks around them.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of ABCDE triage, Pomodoro blocks, and Eisenhower prioritisation helps manage competing responsibilities while still protecting health, faith, rest, coursework, and programme progress.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93008"/>
            <a:ext cx="1874520" cy="1298448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4787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ABCDE Triage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First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3493008"/>
            <a:ext cx="1874520" cy="1298448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354787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42032" y="40050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Focus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3493008"/>
            <a:ext cx="1874520" cy="1298448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354787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26864" y="40050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Eisenhower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Sorting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11696" y="3493008"/>
            <a:ext cx="1874520" cy="1298448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354787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11696" y="40050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 Protected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Shari's Time Management Plan - MedTech Pathway</dc:title>
  <dc:subject>PptxGenJS Presentation</dc:subject>
  <dc:creator>Shari Oliver</dc:creator>
  <cp:lastModifiedBy>Shari Oliver</cp:lastModifiedBy>
  <cp:revision>1</cp:revision>
  <dcterms:created xsi:type="dcterms:W3CDTF">2026-05-27T00:12:57Z</dcterms:created>
  <dcterms:modified xsi:type="dcterms:W3CDTF">2026-05-27T00:12:57Z</dcterms:modified>
</cp:coreProperties>
</file>